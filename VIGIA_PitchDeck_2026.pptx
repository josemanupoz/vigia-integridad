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Mercado potencial (S/ millones/año)</c:v>
                </c:pt>
              </c:strCache>
            </c:strRef>
          </c:tx>
          <c:spPr>
            <a:solidFill>
              <a:srgbClr val="00B8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B8D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C234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Municipalidades
(1,874)</c:v>
                  </c:pt>
                  <c:pt idx="1">
                    <c:v>Gobiernos
Regionales (26)</c:v>
                  </c:pt>
                  <c:pt idx="2">
                    <c:v>Entidades
Centrales</c:v>
                  </c:pt>
                  <c:pt idx="3">
                    <c:v>Organismos
Internacionales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1874</c:v>
                </c:pt>
                <c:pt idx="1">
                  <c:v>520</c:v>
                </c:pt>
                <c:pt idx="2">
                  <c:v>300</c:v>
                </c:pt>
                <c:pt idx="3">
                  <c:v>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Uso de fondos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B8D4"/>
              </a:solidFill>
              <a:effectLst/>
            </c:spPr>
          </c:dPt>
          <c:dPt>
            <c:idx val="1"/>
            <c:bubble3D val="0"/>
            <c:spPr>
              <a:solidFill>
                <a:srgbClr val="C62828"/>
              </a:solidFill>
              <a:effectLst/>
            </c:spPr>
          </c:dPt>
          <c:dPt>
            <c:idx val="2"/>
            <c:bubble3D val="0"/>
            <c:spPr>
              <a:solidFill>
                <a:srgbClr val="2E7D32"/>
              </a:solidFill>
              <a:effectLst/>
            </c:spPr>
          </c:dPt>
          <c:dPt>
            <c:idx val="3"/>
            <c:bubble3D val="0"/>
            <c:spPr>
              <a:solidFill>
                <a:srgbClr val="7C3AE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Desarrollo
Tecnológico</c:v>
                </c:pt>
                <c:pt idx="1">
                  <c:v>Operaciones
y Legal</c:v>
                </c:pt>
                <c:pt idx="2">
                  <c:v>Ventas
y Marketing</c:v>
                </c:pt>
                <c:pt idx="3">
                  <c:v>Infraestructura
Cloud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45</c:v>
                </c:pt>
                <c:pt idx="1">
                  <c:v>25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0C23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0" y="457200"/>
            <a:ext cx="1463040" cy="1463040"/>
          </a:xfrm>
          <a:prstGeom prst="rect">
            <a:avLst/>
          </a:prstGeom>
          <a:solidFill>
            <a:srgbClr val="C6282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840480" y="45720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🛡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spc="400" kern="0" dirty="0">
                <a:solidFill>
                  <a:srgbClr val="FFFFFF"/>
                </a:solidFill>
              </a:rPr>
              <a:t>VIGÍA DE INTEGRIDAD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0B8D4"/>
                </a:solidFill>
              </a:rPr>
              <a:t>Plataforma de Auditoría Ciudadana con Inteligencia Artificial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3520440"/>
            <a:ext cx="2743200" cy="36576"/>
          </a:xfrm>
          <a:prstGeom prst="rect">
            <a:avLst/>
          </a:prstGeom>
          <a:solidFill>
            <a:srgbClr val="00B8D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EABC8"/>
                </a:solidFill>
              </a:rPr>
              <a:t>Jose Manuel Pozo Carlos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EABC8"/>
                </a:solidFill>
              </a:rPr>
              <a:t>Fundador &amp; CEO  |  Urubamba, Cusco, Perú  |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EL PROBLEMA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743200" cy="356616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2743200" cy="7315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801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💰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11480" y="2148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2340"/>
                </a:solidFill>
              </a:rPr>
              <a:t>Corrupción en Obras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65176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S/35 mil millones perdidos anualmente en obras públicas sin supervisión en Perú (Contraloría, 2024)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743200" cy="356616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188720"/>
            <a:ext cx="2743200" cy="7315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2801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🐢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429000" y="2148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2340"/>
                </a:solidFill>
              </a:rPr>
              <a:t>Contraloría Lenta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265176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Las auditorías institucionales tardan meses. Para cuando actúan, el dinero ya se perdió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188720"/>
            <a:ext cx="2743200" cy="356616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188720"/>
            <a:ext cx="2743200" cy="7315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2801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🚫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446520" y="2148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2340"/>
                </a:solidFill>
              </a:rPr>
              <a:t>Ciudadano Sin Herramientas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265176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El ciudadano detecta irregularidades pero no tiene sistema para documentarlas ni hacerles seguimiento legal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LA SOLUCIÓN: VIGÍA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B8D4"/>
                </a:solidFill>
              </a:rPr>
              <a:t>Primera plataforma de auditoría ciudadana con IA en tiempo real del Perú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548640" cy="640080"/>
          </a:xfrm>
          <a:prstGeom prst="rect">
            <a:avLst/>
          </a:prstGeom>
          <a:solidFill>
            <a:srgbClr val="00B8D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37160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3716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00B8D4"/>
                </a:solidFill>
              </a:rPr>
              <a:t>Detección en Tiempo Real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6459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ABC8"/>
                </a:solidFill>
              </a:rPr>
              <a:t>Conectada a Infobras, invierte.pe y SEACE. Detecta obras paralizadas, sobreprecios y anomalías automáticamente.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240280"/>
            <a:ext cx="548640" cy="640080"/>
          </a:xfrm>
          <a:prstGeom prst="rect">
            <a:avLst/>
          </a:prstGeom>
          <a:solidFill>
            <a:srgbClr val="00B8D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224028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22402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00B8D4"/>
                </a:solidFill>
              </a:rPr>
              <a:t>Análisis con IA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51460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ABC8"/>
                </a:solidFill>
              </a:rPr>
              <a:t>Motor de inteligencia artificial analiza cada caso, identifica artículos legales aplicables y recomienda acciones.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108960"/>
            <a:ext cx="548640" cy="640080"/>
          </a:xfrm>
          <a:prstGeom prst="rect">
            <a:avLst/>
          </a:prstGeom>
          <a:solidFill>
            <a:srgbClr val="00B8D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31089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31089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00B8D4"/>
                </a:solidFill>
              </a:rPr>
              <a:t>Generación Automática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38328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ABC8"/>
                </a:solidFill>
              </a:rPr>
              <a:t>Genera oficios, solicitudes SIAF y denuncias formales listas para presentar en minutos.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977640"/>
            <a:ext cx="548640" cy="640080"/>
          </a:xfrm>
          <a:prstGeom prst="rect">
            <a:avLst/>
          </a:prstGeom>
          <a:solidFill>
            <a:srgbClr val="00B8D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39776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39776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00B8D4"/>
                </a:solidFill>
              </a:rPr>
              <a:t>Evidencia Inmutable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425196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ABC8"/>
                </a:solidFill>
              </a:rPr>
              <a:t>Cada caso registra un hash SHA-256 anclado en blockchain. Prueba legal de fecha irrefutable.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TRACCIÓN — PRUEBA DE CONCEPTO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011680" cy="228600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2011680" cy="73152"/>
          </a:xfrm>
          <a:prstGeom prst="rect">
            <a:avLst/>
          </a:prstGeom>
          <a:solidFill>
            <a:srgbClr val="00B8D4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3716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C2340"/>
                </a:solidFill>
              </a:rPr>
              <a:t>7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74320" y="2194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8D4"/>
                </a:solidFill>
              </a:rPr>
              <a:t>Casos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registrados en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primera semana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1188720"/>
            <a:ext cx="2011680" cy="228600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0" y="1188720"/>
            <a:ext cx="2011680" cy="73152"/>
          </a:xfrm>
          <a:prstGeom prst="rect">
            <a:avLst/>
          </a:prstGeom>
          <a:solidFill>
            <a:srgbClr val="00B8D4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13716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C2340"/>
                </a:solidFill>
              </a:rPr>
              <a:t>S/11.2M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560320" y="2194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8D4"/>
                </a:solidFill>
              </a:rPr>
              <a:t>Vigilados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51760" y="25146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en recursos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públicos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1188720"/>
            <a:ext cx="2011680" cy="228600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188720"/>
            <a:ext cx="2011680" cy="73152"/>
          </a:xfrm>
          <a:prstGeom prst="rect">
            <a:avLst/>
          </a:prstGeom>
          <a:solidFill>
            <a:srgbClr val="00B8D4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3716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C2340"/>
                </a:solidFill>
              </a:rPr>
              <a:t>3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846320" y="2194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8D4"/>
                </a:solidFill>
              </a:rPr>
              <a:t>Plataformas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5146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conectadas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(Infobras, MEF, SEACE)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132320" y="1188720"/>
            <a:ext cx="2011680" cy="228600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0" y="1188720"/>
            <a:ext cx="2011680" cy="73152"/>
          </a:xfrm>
          <a:prstGeom prst="rect">
            <a:avLst/>
          </a:prstGeom>
          <a:solidFill>
            <a:srgbClr val="00B8D4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0" y="13716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C2340"/>
                </a:solidFill>
              </a:rPr>
              <a:t>0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7132320" y="2194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8D4"/>
                </a:solidFill>
              </a:rPr>
              <a:t>Costo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23760" y="25146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infraestructura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pública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2340"/>
                </a:solidFill>
              </a:rPr>
              <a:t>Obras auditadas en la primera semana: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3977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🔴 Reservorio Pongobamba: 0% avance / 79 días 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🔴 Campanayoc: 0% avance / 55 días 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🟠 Agua Vakillayoc: 25% en 221 días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TAMAÑO DE MERCADO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97280"/>
          <a:ext cx="53035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097280"/>
            <a:ext cx="3017520" cy="77724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852160" y="1097280"/>
            <a:ext cx="54864" cy="7772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</a:rPr>
              <a:t>TAM — Mercado Total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03504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2828"/>
                </a:solidFill>
              </a:rPr>
              <a:t>S/350M/año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035040" y="16276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Todas las entidades públicas del Perú que ejecutan obras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852160" y="2057400"/>
            <a:ext cx="3017520" cy="77724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852160" y="2057400"/>
            <a:ext cx="54864" cy="777240"/>
          </a:xfrm>
          <a:prstGeom prst="rect">
            <a:avLst/>
          </a:prstGeom>
          <a:solidFill>
            <a:srgbClr val="00B8D4"/>
          </a:solidFill>
          <a:ln/>
        </p:spPr>
      </p:sp>
      <p:sp>
        <p:nvSpPr>
          <p:cNvPr id="12" name="Text 9"/>
          <p:cNvSpPr/>
          <p:nvPr/>
        </p:nvSpPr>
        <p:spPr>
          <a:xfrm>
            <a:off x="6035040" y="2103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</a:rPr>
              <a:t>SAM — Mercado Alcanzable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03504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8D4"/>
                </a:solidFill>
              </a:rPr>
              <a:t>S/47M/año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035040" y="2587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Municipalidades y GR con presupuesto &gt;S/10M en obras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852160" y="3017520"/>
            <a:ext cx="3017520" cy="77724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852160" y="3017520"/>
            <a:ext cx="54864" cy="7772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7" name="Text 14"/>
          <p:cNvSpPr/>
          <p:nvPr/>
        </p:nvSpPr>
        <p:spPr>
          <a:xfrm>
            <a:off x="6035040" y="3063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</a:rPr>
              <a:t>SOM — Objetivo Año 1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03504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</a:rPr>
              <a:t>S/2.4M/año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035040" y="35478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120 municipalidades a S/20,000/año cada una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Perú tiene 1,874 municipalidades con presupuesto de obras de más de S/35,000 millones anuales — ninguna tiene vigilancia ciudadana con IA.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MODELO DE NEGOCIO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2011680" cy="3749040"/>
          </a:xfrm>
          <a:prstGeom prst="rect">
            <a:avLst/>
          </a:prstGeom>
          <a:solidFill>
            <a:srgbClr val="132B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1005840"/>
            <a:ext cx="2011680" cy="91440"/>
          </a:xfrm>
          <a:prstGeom prst="rect">
            <a:avLst/>
          </a:prstGeom>
          <a:solidFill>
            <a:srgbClr val="8EABC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143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ABC8"/>
                </a:solidFill>
              </a:rPr>
              <a:t>CIUDADANO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6459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GRATIS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2286000"/>
            <a:ext cx="17373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ABC8"/>
                </a:solidFill>
              </a:rPr>
              <a:t>Acceso completo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EABC8"/>
                </a:solidFill>
              </a:rPr>
              <a:t>Base de credibilidad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EABC8"/>
                </a:solidFill>
              </a:rPr>
              <a:t>Audiencia masiva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1005840"/>
            <a:ext cx="2011680" cy="3749040"/>
          </a:xfrm>
          <a:prstGeom prst="rect">
            <a:avLst/>
          </a:prstGeom>
          <a:solidFill>
            <a:srgbClr val="132B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0" y="1005840"/>
            <a:ext cx="2011680" cy="91440"/>
          </a:xfrm>
          <a:prstGeom prst="rect">
            <a:avLst/>
          </a:prstGeom>
          <a:solidFill>
            <a:srgbClr val="00B8D4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1143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8D4"/>
                </a:solidFill>
              </a:rPr>
              <a:t>MUNICIPALIDAD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51760" y="16459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S/1,500/mes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697480" y="2286000"/>
            <a:ext cx="17373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ABC8"/>
                </a:solidFill>
              </a:rPr>
              <a:t>Panel multi-obra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EABC8"/>
                </a:solidFill>
              </a:rPr>
              <a:t>Alertas automáticas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EABC8"/>
                </a:solidFill>
              </a:rPr>
              <a:t>Reportes ejecutivos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1005840"/>
            <a:ext cx="2011680" cy="3749040"/>
          </a:xfrm>
          <a:prstGeom prst="rect">
            <a:avLst/>
          </a:prstGeom>
          <a:solidFill>
            <a:srgbClr val="132B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005840"/>
            <a:ext cx="2011680" cy="914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143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</a:rPr>
              <a:t>GOBIERNO REGIONAL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16459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S/5,000/mes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83480" y="2286000"/>
            <a:ext cx="17373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ABC8"/>
                </a:solidFill>
              </a:rPr>
              <a:t>Cobertura provincial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EABC8"/>
                </a:solidFill>
              </a:rPr>
              <a:t>API en tiempo real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EABC8"/>
                </a:solidFill>
              </a:rPr>
              <a:t>Soporte dedicado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132320" y="1005840"/>
            <a:ext cx="2011680" cy="3749040"/>
          </a:xfrm>
          <a:prstGeom prst="rect">
            <a:avLst/>
          </a:prstGeom>
          <a:solidFill>
            <a:srgbClr val="132B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32320" y="1005840"/>
            <a:ext cx="2011680" cy="914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0" name="Text 18"/>
          <p:cNvSpPr/>
          <p:nvPr/>
        </p:nvSpPr>
        <p:spPr>
          <a:xfrm>
            <a:off x="7223760" y="1143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ESTADO CENTRAL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223760" y="16459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Contrato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269480" y="2286000"/>
            <a:ext cx="17373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ABC8"/>
                </a:solidFill>
              </a:rPr>
              <a:t>MEF, Contraloría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EABC8"/>
                </a:solidFill>
              </a:rPr>
              <a:t>Licencia nacional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EABC8"/>
                </a:solidFill>
              </a:rPr>
              <a:t>Desde S/200K/año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EABC8"/>
                </a:solidFill>
              </a:rPr>
              <a:t>Fuente adicional: grants de USAID, BID Lab y NED para proyectos de transparencia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HOJA DE RUTA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103120" cy="374904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2103120" cy="731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88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</a:rPr>
              <a:t>FASE 1 — HOY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C2340"/>
                </a:solidFill>
              </a:rPr>
              <a:t>MVP Funcionando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1920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• VIGIA v4.1 en producción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• 7 casos auditados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• 3 plataformas conectadas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• Oficios generados con IA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1097280"/>
            <a:ext cx="2103120" cy="374904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0" y="1097280"/>
            <a:ext cx="2103120" cy="73152"/>
          </a:xfrm>
          <a:prstGeom prst="rect">
            <a:avLst/>
          </a:prstGeom>
          <a:solidFill>
            <a:srgbClr val="00B8D4"/>
          </a:solidFill>
          <a:ln/>
        </p:spPr>
      </p:sp>
      <p:sp>
        <p:nvSpPr>
          <p:cNvPr id="11" name="Text 9"/>
          <p:cNvSpPr/>
          <p:nvPr/>
        </p:nvSpPr>
        <p:spPr>
          <a:xfrm>
            <a:off x="2651760" y="1188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8D4"/>
                </a:solidFill>
              </a:rPr>
              <a:t>FASE 2 — 6 MESES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51760" y="1508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C2340"/>
                </a:solidFill>
              </a:rPr>
              <a:t>Expansión Regional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51760" y="1920240"/>
            <a:ext cx="1920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• Conexión SIAF automatizada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• 20 municipalidades cliente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• App móvil nativa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• Startup Perú financiamiento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1097280"/>
            <a:ext cx="2103120" cy="374904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097280"/>
            <a:ext cx="2103120" cy="7315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188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62828"/>
                </a:solidFill>
              </a:rPr>
              <a:t>FASE 3 — 1 AÑO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37760" y="1508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C2340"/>
                </a:solidFill>
              </a:rPr>
              <a:t>Escala Nacional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1920240"/>
            <a:ext cx="1920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• 120 municipalidades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• Convenio MEF/Contraloría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• IA predictiva de corrupción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• S/2.4M ingresos anuales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132320" y="1097280"/>
            <a:ext cx="2103120" cy="374904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0" y="1097280"/>
            <a:ext cx="210312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0" y="1188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FASE 4 — 2 AÑOS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223760" y="1508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C2340"/>
                </a:solidFill>
              </a:rPr>
              <a:t>Expansión LATAM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23760" y="1920240"/>
            <a:ext cx="1920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• Colombia, Ecuador, Bolivia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• Modelo SaaS internacional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• Serie A USD 2M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• Referente regional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SOLICITUD DE FINANCIAMIENTO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B8D4"/>
                </a:solidFill>
              </a:rPr>
              <a:t>Buscamos S/150,000 para escalar VIGIA en los próximos 12 meses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18872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754880" y="1280160"/>
            <a:ext cx="4114800" cy="640080"/>
          </a:xfrm>
          <a:prstGeom prst="rect">
            <a:avLst/>
          </a:prstGeom>
          <a:solidFill>
            <a:srgbClr val="132B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754880" y="1280160"/>
            <a:ext cx="54864" cy="640080"/>
          </a:xfrm>
          <a:prstGeom prst="rect">
            <a:avLst/>
          </a:prstGeom>
          <a:solidFill>
            <a:srgbClr val="00B8D4"/>
          </a:solidFill>
          <a:ln/>
        </p:spPr>
      </p:sp>
      <p:sp>
        <p:nvSpPr>
          <p:cNvPr id="7" name="Text 4"/>
          <p:cNvSpPr/>
          <p:nvPr/>
        </p:nvSpPr>
        <p:spPr>
          <a:xfrm>
            <a:off x="4892040" y="1325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8D4"/>
                </a:solidFill>
              </a:rPr>
              <a:t>45%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577840" y="1325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Desarrollo Tecnológico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577840" y="16276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BC8"/>
                </a:solidFill>
              </a:rPr>
              <a:t>Conexión SIAF, app móvil, IA predictiva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0" y="2057400"/>
            <a:ext cx="4114800" cy="640080"/>
          </a:xfrm>
          <a:prstGeom prst="rect">
            <a:avLst/>
          </a:prstGeom>
          <a:solidFill>
            <a:srgbClr val="132B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2057400"/>
            <a:ext cx="54864" cy="64008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2" name="Text 9"/>
          <p:cNvSpPr/>
          <p:nvPr/>
        </p:nvSpPr>
        <p:spPr>
          <a:xfrm>
            <a:off x="4892040" y="21031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2828"/>
                </a:solidFill>
              </a:rPr>
              <a:t>25%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577840" y="2103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Operaciones y Legal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577840" y="24048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BC8"/>
                </a:solidFill>
              </a:rPr>
              <a:t>ONG, INDECOPI, equipo legal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754880" y="2834640"/>
            <a:ext cx="4114800" cy="640080"/>
          </a:xfrm>
          <a:prstGeom prst="rect">
            <a:avLst/>
          </a:prstGeom>
          <a:solidFill>
            <a:srgbClr val="132B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54880" y="283464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7" name="Text 14"/>
          <p:cNvSpPr/>
          <p:nvPr/>
        </p:nvSpPr>
        <p:spPr>
          <a:xfrm>
            <a:off x="4892040" y="2880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</a:rPr>
              <a:t>20%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577840" y="2880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Ventas y Marketing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577840" y="318211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BC8"/>
                </a:solidFill>
              </a:rPr>
              <a:t>Primeras 20 municipalidades cliente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754880" y="3611880"/>
            <a:ext cx="4114800" cy="640080"/>
          </a:xfrm>
          <a:prstGeom prst="rect">
            <a:avLst/>
          </a:prstGeom>
          <a:solidFill>
            <a:srgbClr val="132B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54880" y="3611880"/>
            <a:ext cx="54864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19"/>
          <p:cNvSpPr/>
          <p:nvPr/>
        </p:nvSpPr>
        <p:spPr>
          <a:xfrm>
            <a:off x="4892040" y="3657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</a:rPr>
              <a:t>10%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577840" y="3657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Infraestructura Cloud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577840" y="395935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BC8"/>
                </a:solidFill>
              </a:rPr>
              <a:t>Servidores, base de datos, seguridad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8D4"/>
                </a:solidFill>
              </a:rPr>
              <a:t>ROI proyectado: 10x en 24 meses  |  Break-even: mes 14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EQUIPO FUNDADOR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645920" cy="1645920"/>
          </a:xfrm>
          <a:prstGeom prst="ellipse">
            <a:avLst/>
          </a:prstGeom>
          <a:solidFill>
            <a:srgbClr val="E8F4F8"/>
          </a:solidFill>
          <a:ln w="38100">
            <a:solidFill>
              <a:srgbClr val="00B8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C2340"/>
                </a:solidFill>
              </a:rPr>
              <a:t>JMP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" y="29260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2340"/>
                </a:solidFill>
              </a:rPr>
              <a:t>Jose Manuel Pozo Carlos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32461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8D4"/>
                </a:solidFill>
              </a:rPr>
              <a:t>Fundador &amp; CEO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36118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• Funcionario público con experiencia en gestión municipal
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• Auditor ciudadano de obras públicas en Urubamba, Cusco
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• Creador y arquitecto de VIGIA v4.1
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• Especialista en transparencia y acceso a información pública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26080" y="1188720"/>
            <a:ext cx="5943600" cy="356616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26080" y="1188720"/>
            <a:ext cx="5943600" cy="73152"/>
          </a:xfrm>
          <a:prstGeom prst="rect">
            <a:avLst/>
          </a:prstGeom>
          <a:solidFill>
            <a:srgbClr val="00B8D4"/>
          </a:solidFill>
          <a:ln/>
        </p:spPr>
      </p:sp>
      <p:sp>
        <p:nvSpPr>
          <p:cNvPr id="11" name="Text 9"/>
          <p:cNvSpPr/>
          <p:nvPr/>
        </p:nvSpPr>
        <p:spPr>
          <a:xfrm>
            <a:off x="3108960" y="132588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</a:rPr>
              <a:t>Lo que buscamos en el equipo: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08960" y="18288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💻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11880" y="1847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2340"/>
                </a:solidFill>
              </a:rPr>
              <a:t>CTO / Desarrollador Senior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11880" y="21031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Python, APIs gubernamentales, ML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08960" y="25146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⚖️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11880" y="25328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2340"/>
                </a:solidFill>
              </a:rPr>
              <a:t>Abogado Anticorrupción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11880" y="27889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Derecho administrativo y penal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108960" y="32004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611880" y="32186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2340"/>
                </a:solidFill>
              </a:rPr>
              <a:t>Especialista en Datos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11880" y="34747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SIAF, invierte.pe, análisis fiscal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108960" y="38862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🤝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611880" y="39044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2340"/>
                </a:solidFill>
              </a:rPr>
              <a:t>Ejecutivo Comercial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11880" y="41605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Ventas a entidades del Estado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🛡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VIGÍA DETECTA LO QUE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LA BUROCRACIA IGNORA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0B8D4"/>
                </a:solidFill>
              </a:rPr>
              <a:t>Primera plataforma de auditoría ciudadana con IA del Perú.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00B8D4"/>
                </a:solidFill>
              </a:rPr>
              <a:t>Cada sol del Estado vigilado. Cada irregularidad documentada.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0" y="3611880"/>
            <a:ext cx="3657600" cy="640080"/>
          </a:xfrm>
          <a:prstGeom prst="rect">
            <a:avLst/>
          </a:prstGeom>
          <a:solidFill>
            <a:srgbClr val="00B8D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0" y="36118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2340"/>
                </a:solidFill>
              </a:rPr>
              <a:t>CONVERSEMOS HOY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ABC8"/>
                </a:solidFill>
              </a:rPr>
              <a:t>Jose Manuel Pozo Carlos  |  Urubamba, Cusco, Perú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EABC8"/>
                </a:solidFill>
              </a:rPr>
              <a:t>vigia-integridad-nuevo.onrender.com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VIGIA - Pitch Deck</dc:title>
  <dc:subject>PptxGenJS Presentation</dc:subject>
  <dc:creator>PptxGenJS</dc:creator>
  <cp:lastModifiedBy>PptxGenJS</cp:lastModifiedBy>
  <cp:revision>1</cp:revision>
  <dcterms:created xsi:type="dcterms:W3CDTF">2026-04-27T16:06:31Z</dcterms:created>
  <dcterms:modified xsi:type="dcterms:W3CDTF">2026-04-27T16:06:31Z</dcterms:modified>
</cp:coreProperties>
</file>